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jpg&amp;f=1&amp;nofb=1&amp;ipt=3921b33610557eafbf3484a8827f6aa2cc77625e1398e598a14cf9d0e97b995d&amp;ipo=images" ContentType="image/jpeg"/>
  <Default Extension="jpg&amp;f=1&amp;nofb=1&amp;ipt=4d227f871e4caf763bf7148f450188e85788d966d4a713f4d9a34d833e207ea7&amp;ipo=images" ContentType="image/jpeg"/>
  <Default Extension="jpg&amp;f=1&amp;nofb=1&amp;ipt=a86967f8a2d30bbb2aa157161a0df40383f053fd57c5f4cab426942c27e57d62&amp;ipo=images" ContentType="image/jpeg"/>
  <Default Extension="jpg&amp;f=1&amp;nofb=1&amp;ipt=b4f14503655a11c3dbfab2e0d7138dbfc008c829cd63baf7fa095f1367b9a1f8&amp;ipo=images" ContentType="image/jpeg"/>
  <Default Extension="jpg&amp;f=1&amp;nofb=1&amp;ipt=bb41affff6b93261c160ebdc0ce4c0a764e5cc9d3736e760afc29a59e432932f&amp;ipo=images" ContentType="image/jpeg"/>
  <Default Extension="jpg&amp;f=1&amp;nofb=1&amp;ipt=e4dd5d34861a45e2f510b454a7eca57f68ece36969efdebe208254087ea39a64&amp;ipo=images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66" r:id="rId4"/>
    <p:sldId id="267" r:id="rId5"/>
    <p:sldId id="268" r:id="rId6"/>
    <p:sldId id="269" r:id="rId7"/>
    <p:sldId id="258" r:id="rId8"/>
    <p:sldId id="259" r:id="rId9"/>
    <p:sldId id="264" r:id="rId10"/>
    <p:sldId id="263" r:id="rId11"/>
    <p:sldId id="270" r:id="rId12"/>
    <p:sldId id="272" r:id="rId13"/>
    <p:sldId id="271" r:id="rId14"/>
    <p:sldId id="273" r:id="rId1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AF9703-E328-4FD4-8D69-507A9635F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06B5B26-6D8E-45EA-8339-D637C9CA2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477714B-9619-4026-B7A9-334884334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7A40-582E-4136-8189-CB927F773D2A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8252B86-DC2E-428F-82FE-127DC7522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D66D796-8FCC-47DC-A929-3B79BD24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32D2-1251-4055-8336-B6E5B86843F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0496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9F35A10-4F0E-4F4E-A1BC-FB6A36FD9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C66E92B-6F39-4C14-BBA7-2D7F9B621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2BACECA-9C53-4A8E-ACD8-D17FEDBE0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7A40-582E-4136-8189-CB927F773D2A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C41C45B-C7D9-41FB-A46D-3B3F6EE19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4E696D4-AAE6-4603-B016-D89D9C2F5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32D2-1251-4055-8336-B6E5B86843F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2408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23A3CF-3412-4A0A-9BDB-FED01D9B3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A62D553-0046-4311-8C02-41A86D6F1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42968BD-E019-4F91-AFED-C47985C1D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7A40-582E-4136-8189-CB927F773D2A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34DFF36-445B-4768-B464-0A2761E6A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A902BD9-A11F-460E-9ADA-698975B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32D2-1251-4055-8336-B6E5B86843F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3090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C9730E-1AB4-4877-BD0C-B15D429AE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B7B06B5-425B-4578-9D9E-726B76A6E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8FC2B05-F312-4038-931F-3D3B0ECCB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2538FB4-479E-4D3A-AA78-B6DF4962C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7A40-582E-4136-8189-CB927F773D2A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6691BFA-30A4-4E81-8134-0E77C054B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20AAB98-254A-4061-BCE5-70FC79DE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32D2-1251-4055-8336-B6E5B86843F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28541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482A600-82F4-4CB2-B163-16BC71372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00D8F24-7C8B-40DC-9F54-74E063BB1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6049647-3A36-4AF3-BE8A-F94EFB901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7EBFCCA2-9907-436F-8EBA-9A59C9510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6B058BE1-CB54-42EB-8CE1-3D479DA27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399661B6-95C4-4559-9EBD-2366CDED2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7A40-582E-4136-8189-CB927F773D2A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72CE72EF-982C-448F-8740-E7FD586C7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E4857D90-F395-47AD-964E-4848B4C3E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32D2-1251-4055-8336-B6E5B86843F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09646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279BFB-76DB-40B5-A672-300AEBFA3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1AC08283-F847-4B68-A72A-86C93FC4F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7A40-582E-4136-8189-CB927F773D2A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299726AC-94EA-4C36-B2CC-BCAAECBD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55F0FCF-1644-4010-8F2D-E06E621A0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32D2-1251-4055-8336-B6E5B86843F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16829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5F248A1E-BAAA-4645-A9CA-3EC2F93F4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7A40-582E-4136-8189-CB927F773D2A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EA5895D-623F-4B9F-BB96-752B05F17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C8C8380-7146-4402-87E5-3B5C21036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32D2-1251-4055-8336-B6E5B86843F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7375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04F5C7-A52E-4082-B0EA-CA43C2D0F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3572364-58E5-4833-9274-8F351B49A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9DCE6B8-F71A-4C63-ABA0-CC3F09C47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94448C6-18EF-4E84-A487-CA70BDB81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7A40-582E-4136-8189-CB927F773D2A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9348195-EFDE-40D6-B518-0F81D382A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2DC08D0-BA45-49E8-B514-0BDB7978D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32D2-1251-4055-8336-B6E5B86843F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223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CE4F308-4F5D-4058-AD8D-7A2FC1C45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2A8EB653-5606-4B60-A739-A94D2D1762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42F2382-E1E7-4112-AABD-35D97A983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806FFAC-DF83-41DC-8D2B-BAAFA9F3A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7A40-582E-4136-8189-CB927F773D2A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714405E-5AB6-4D70-B6B7-66600E438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5FE1F4B-7962-4D34-BE10-9A11E086F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32D2-1251-4055-8336-B6E5B86843F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2918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E122FBC-07C8-4D04-BCA6-833F49947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B63E6E4-0F58-46D7-9317-C8D455688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ED051C6-0D68-4509-8948-603AB7F04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7A40-582E-4136-8189-CB927F773D2A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00252AB-9EE0-4020-AE86-01C46E852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3D3C6F0-27B5-4B3B-B42F-73D53798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32D2-1251-4055-8336-B6E5B86843F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286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76573758-E186-4E5C-932C-18EB061631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137986A-7FA1-4109-8CF6-D032CBA07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282E4DE-39E6-422F-B207-37D86727E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7A40-582E-4136-8189-CB927F773D2A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61FDF52-3935-44C5-80BE-E5D2F56E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24F9CDB-1707-4BF5-A6B4-D652ADB5E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632D2-1251-4055-8336-B6E5B86843F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8346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01085492-938C-4EC3-A29E-2338C5E62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EC9E5F8-CA15-4FC5-BE0F-2FDA1BFE4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35045CD-2481-4FB7-B404-80B510F21E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97A40-582E-4136-8189-CB927F773D2A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F8AD943-CB53-4032-9B8F-A12EA891EB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DE43728-F376-48F8-9290-984B5B16C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632D2-1251-4055-8336-B6E5B86843F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49493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&amp;f=1&amp;nofb=1&amp;ipt=e4dd5d34861a45e2f510b454a7eca57f68ece36969efdebe208254087ea39a64&amp;ipo=images"/><Relationship Id="rId5" Type="http://schemas.microsoft.com/office/2007/relationships/hdphoto" Target="../media/hdphoto3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6.jpg&amp;f=1&amp;nofb=1&amp;ipt=bb41affff6b93261c160ebdc0ce4c0a764e5cc9d3736e760afc29a59e432932f&amp;ipo=images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&amp;f=1&amp;nofb=1&amp;ipt=e4dd5d34861a45e2f510b454a7eca57f68ece36969efdebe208254087ea39a64&amp;ipo=images"/><Relationship Id="rId5" Type="http://schemas.microsoft.com/office/2007/relationships/hdphoto" Target="../media/hdphoto3.wdp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&amp;f=1&amp;nofb=1&amp;ipt=4d227f871e4caf763bf7148f450188e85788d966d4a713f4d9a34d833e207ea7&amp;ipo=images"/><Relationship Id="rId3" Type="http://schemas.microsoft.com/office/2007/relationships/hdphoto" Target="../media/hdphoto1.wdp"/><Relationship Id="rId7" Type="http://schemas.openxmlformats.org/officeDocument/2006/relationships/image" Target="../media/image6.jpg&amp;f=1&amp;nofb=1&amp;ipt=bb41affff6b93261c160ebdc0ce4c0a764e5cc9d3736e760afc29a59e432932f&amp;ipo=images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&amp;f=1&amp;nofb=1&amp;ipt=e4dd5d34861a45e2f510b454a7eca57f68ece36969efdebe208254087ea39a64&amp;ipo=images"/><Relationship Id="rId5" Type="http://schemas.microsoft.com/office/2007/relationships/hdphoto" Target="../media/hdphoto3.wdp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microsoft.com/office/2007/relationships/hdphoto" Target="../media/hdphoto4.wdp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fif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5.jpg&amp;f=1&amp;nofb=1&amp;ipt=3921b33610557eafbf3484a8827f6aa2cc77625e1398e598a14cf9d0e97b995d&amp;ipo=images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&amp;f=1&amp;nofb=1&amp;ipt=a86967f8a2d30bbb2aa157161a0df40383f053fd57c5f4cab426942c27e57d62&amp;ipo=images"/><Relationship Id="rId5" Type="http://schemas.microsoft.com/office/2007/relationships/hdphoto" Target="../media/hdphoto5.wdp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g&amp;f=1&amp;nofb=1&amp;ipt=b4f14503655a11c3dbfab2e0d7138dbfc008c829cd63baf7fa095f1367b9a1f8&amp;ipo=images"/><Relationship Id="rId5" Type="http://schemas.microsoft.com/office/2007/relationships/hdphoto" Target="../media/hdphoto6.wdp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7.wdp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0BB1CD25-8705-4EA6-8C1A-6956894FB3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492" t="10056" r="4478" b="604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Kép 4" descr="The Best Live Dealer Blackjack Games - BlackjackChamp">
            <a:extLst>
              <a:ext uri="{FF2B5EF4-FFF2-40B4-BE49-F238E27FC236}">
                <a16:creationId xmlns:a16="http://schemas.microsoft.com/office/drawing/2014/main" id="{262A114E-9A24-60C0-E457-448094A812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860" y="0"/>
            <a:ext cx="12198860" cy="6855759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86AD5086-B122-4672-9060-29D0D83BB2CC}"/>
              </a:ext>
            </a:extLst>
          </p:cNvPr>
          <p:cNvSpPr txBox="1"/>
          <p:nvPr/>
        </p:nvSpPr>
        <p:spPr>
          <a:xfrm>
            <a:off x="1310936" y="2367171"/>
            <a:ext cx="95701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BLACKJACK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7B65A434-2D9C-47EF-854E-B8F441C01E56}"/>
              </a:ext>
            </a:extLst>
          </p:cNvPr>
          <p:cNvSpPr txBox="1"/>
          <p:nvPr/>
        </p:nvSpPr>
        <p:spPr>
          <a:xfrm>
            <a:off x="1562470" y="3429000"/>
            <a:ext cx="9170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(avagy másnéven a huszonegyezés)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72B40331-91B5-B52C-0EBE-38841BFFE59C}"/>
              </a:ext>
            </a:extLst>
          </p:cNvPr>
          <p:cNvSpPr txBox="1"/>
          <p:nvPr/>
        </p:nvSpPr>
        <p:spPr>
          <a:xfrm>
            <a:off x="1562469" y="3883324"/>
            <a:ext cx="9170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Csanálosi</a:t>
            </a:r>
            <a:r>
              <a:rPr lang="hu-H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 Botond &amp; </a:t>
            </a:r>
            <a:r>
              <a:rPr lang="hu-HU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Kabdebon</a:t>
            </a:r>
            <a:r>
              <a:rPr lang="hu-H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 Dénes</a:t>
            </a:r>
          </a:p>
        </p:txBody>
      </p:sp>
    </p:spTree>
    <p:extLst>
      <p:ext uri="{BB962C8B-B14F-4D97-AF65-F5344CB8AC3E}">
        <p14:creationId xmlns:p14="http://schemas.microsoft.com/office/powerpoint/2010/main" val="18042548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5F9D7-D42B-3FCB-FFB3-403AF276F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2EB35CCF-DB03-254B-DEB5-506F86FD2E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492" t="10056" r="4478" b="604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BB3BD508-07D3-B466-A2CB-9330BA6BB02A}"/>
              </a:ext>
            </a:extLst>
          </p:cNvPr>
          <p:cNvSpPr txBox="1"/>
          <p:nvPr/>
        </p:nvSpPr>
        <p:spPr>
          <a:xfrm>
            <a:off x="585926" y="298674"/>
            <a:ext cx="11020148" cy="1323439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SZERENCSEJÁTÉK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A79B2610-1E86-5289-5CD0-BE5240B438E1}"/>
              </a:ext>
            </a:extLst>
          </p:cNvPr>
          <p:cNvSpPr txBox="1"/>
          <p:nvPr/>
        </p:nvSpPr>
        <p:spPr>
          <a:xfrm>
            <a:off x="585926" y="1790789"/>
            <a:ext cx="7039826" cy="397031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A világ szerencsejáték-ipara </a:t>
            </a:r>
            <a:r>
              <a:rPr lang="hu-HU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(kaszinók, online fogadás, lottó)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 évente nagyjából </a:t>
            </a:r>
            <a:r>
              <a:rPr lang="hu-HU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500–600 milliárd dolláros árbevételt generál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. Ez </a:t>
            </a:r>
            <a:r>
              <a:rPr lang="hu-HU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napi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 szinten körülbelül </a:t>
            </a:r>
            <a:r>
              <a:rPr lang="hu-HU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1,5 milliárd dollárnyi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 elköltött összeget jelent a játékosok részéről világszerte.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DF1FA1F-9FD2-FAA8-8B46-F2D8788D54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1" t="-893" r="12932" b="893"/>
          <a:stretch>
            <a:fillRect/>
          </a:stretch>
        </p:blipFill>
        <p:spPr>
          <a:xfrm>
            <a:off x="7893170" y="2116392"/>
            <a:ext cx="3529055" cy="318677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2867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F7DD5-8481-45A2-C2BD-11B61E4E8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Throwing Money At Cashier at Marcus Glennie blog">
            <a:extLst>
              <a:ext uri="{FF2B5EF4-FFF2-40B4-BE49-F238E27FC236}">
                <a16:creationId xmlns:a16="http://schemas.microsoft.com/office/drawing/2014/main" id="{F7CC927B-A80A-F71D-88F8-0B342F86F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FB8F6C4C-D429-7142-AA8B-0EBEF0766C93}"/>
              </a:ext>
            </a:extLst>
          </p:cNvPr>
          <p:cNvSpPr txBox="1"/>
          <p:nvPr/>
        </p:nvSpPr>
        <p:spPr>
          <a:xfrm>
            <a:off x="585926" y="298674"/>
            <a:ext cx="11020148" cy="1323439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MIT VEHETNÉK EBBŐL?</a:t>
            </a:r>
          </a:p>
        </p:txBody>
      </p:sp>
    </p:spTree>
    <p:extLst>
      <p:ext uri="{BB962C8B-B14F-4D97-AF65-F5344CB8AC3E}">
        <p14:creationId xmlns:p14="http://schemas.microsoft.com/office/powerpoint/2010/main" val="4036898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58243-F2B1-8ACF-977F-6E33A4C54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BC06A8AD-2900-257D-1A70-7ACDF65E16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492" t="10056" r="4478" b="604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Kép 5" descr="Throwing Money At Cashier at Marcus Glennie blog">
            <a:extLst>
              <a:ext uri="{FF2B5EF4-FFF2-40B4-BE49-F238E27FC236}">
                <a16:creationId xmlns:a16="http://schemas.microsoft.com/office/drawing/2014/main" id="{3B08950D-5C93-D9DB-D269-3729F19E3A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B77FA172-1C4A-4080-4D59-D7EA4EAAFEB3}"/>
              </a:ext>
            </a:extLst>
          </p:cNvPr>
          <p:cNvSpPr txBox="1"/>
          <p:nvPr/>
        </p:nvSpPr>
        <p:spPr>
          <a:xfrm>
            <a:off x="585926" y="298674"/>
            <a:ext cx="11020148" cy="1323439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MIT VEHETNÉK EBBŐL?</a:t>
            </a:r>
          </a:p>
        </p:txBody>
      </p:sp>
      <p:pic>
        <p:nvPicPr>
          <p:cNvPr id="3" name="Kép 2" descr="Quartz White Bugatti Chiron Pur Sport With Grey Carbon Accents Touches ...">
            <a:extLst>
              <a:ext uri="{FF2B5EF4-FFF2-40B4-BE49-F238E27FC236}">
                <a16:creationId xmlns:a16="http://schemas.microsoft.com/office/drawing/2014/main" id="{77757152-796B-0321-38C0-10B73318C3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926" y="1920787"/>
            <a:ext cx="3219840" cy="174408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6419BD03-45D6-39EC-775F-5EBB33816777}"/>
              </a:ext>
            </a:extLst>
          </p:cNvPr>
          <p:cNvSpPr txBox="1"/>
          <p:nvPr/>
        </p:nvSpPr>
        <p:spPr>
          <a:xfrm>
            <a:off x="585926" y="3792131"/>
            <a:ext cx="3219840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300-400 db Bugatti </a:t>
            </a:r>
            <a:r>
              <a:rPr lang="hu-HU" sz="3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Chiront</a:t>
            </a:r>
            <a:endParaRPr lang="hu-HU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791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69E3B-C50F-290A-A287-98BDFAC3A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1C92C1DC-C838-C208-5B9B-3FE95D56E3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492" t="10056" r="4478" b="604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Kép 6" descr="Throwing Money At Cashier at Marcus Glennie blog">
            <a:extLst>
              <a:ext uri="{FF2B5EF4-FFF2-40B4-BE49-F238E27FC236}">
                <a16:creationId xmlns:a16="http://schemas.microsoft.com/office/drawing/2014/main" id="{33669D73-F273-5B2A-C5A9-5C72B052C0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1AE95929-3752-6FF8-A175-824A67E6EB17}"/>
              </a:ext>
            </a:extLst>
          </p:cNvPr>
          <p:cNvSpPr txBox="1"/>
          <p:nvPr/>
        </p:nvSpPr>
        <p:spPr>
          <a:xfrm>
            <a:off x="585926" y="298674"/>
            <a:ext cx="11020148" cy="1323439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MIT VEHETNÉK EBBŐL?</a:t>
            </a:r>
          </a:p>
        </p:txBody>
      </p:sp>
      <p:pic>
        <p:nvPicPr>
          <p:cNvPr id="3" name="Kép 2" descr="Quartz White Bugatti Chiron Pur Sport With Grey Carbon Accents Touches ...">
            <a:extLst>
              <a:ext uri="{FF2B5EF4-FFF2-40B4-BE49-F238E27FC236}">
                <a16:creationId xmlns:a16="http://schemas.microsoft.com/office/drawing/2014/main" id="{105FA9CE-91B1-C160-47DA-6191EDF15F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926" y="1920787"/>
            <a:ext cx="3219840" cy="174408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2BF357EE-AC0F-5079-0C87-7243C95DEB59}"/>
              </a:ext>
            </a:extLst>
          </p:cNvPr>
          <p:cNvSpPr txBox="1"/>
          <p:nvPr/>
        </p:nvSpPr>
        <p:spPr>
          <a:xfrm>
            <a:off x="585926" y="3792131"/>
            <a:ext cx="3219840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300-400 db Bugatti </a:t>
            </a:r>
            <a:r>
              <a:rPr lang="hu-HU" sz="3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Chiront</a:t>
            </a:r>
            <a:endParaRPr lang="hu-HU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Condensed" panose="020B0502040204020203" pitchFamily="34" charset="0"/>
            </a:endParaRPr>
          </a:p>
        </p:txBody>
      </p:sp>
      <p:pic>
        <p:nvPicPr>
          <p:cNvPr id="6" name="Kép 5" descr="Sajtos-tejfölös lángos - Nők Lapja">
            <a:extLst>
              <a:ext uri="{FF2B5EF4-FFF2-40B4-BE49-F238E27FC236}">
                <a16:creationId xmlns:a16="http://schemas.microsoft.com/office/drawing/2014/main" id="{EBAC9345-A923-770A-5E68-D507FDCA16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4247" y="1920787"/>
            <a:ext cx="2326086" cy="174408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7145624F-22E1-5C87-79D1-6E84DDCC1580}"/>
              </a:ext>
            </a:extLst>
          </p:cNvPr>
          <p:cNvSpPr txBox="1"/>
          <p:nvPr/>
        </p:nvSpPr>
        <p:spPr>
          <a:xfrm>
            <a:off x="4447370" y="3792130"/>
            <a:ext cx="3219840" cy="175432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370.000.000 db sajtos-tejfölös lángost</a:t>
            </a:r>
          </a:p>
        </p:txBody>
      </p:sp>
    </p:spTree>
    <p:extLst>
      <p:ext uri="{BB962C8B-B14F-4D97-AF65-F5344CB8AC3E}">
        <p14:creationId xmlns:p14="http://schemas.microsoft.com/office/powerpoint/2010/main" val="2043543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FD735-2FE9-39BD-E424-EE70A82A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FE586CFB-C7F8-9353-F71B-9E0348D335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492" t="10056" r="4478" b="604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Kép 6" descr="Throwing Money At Cashier at Marcus Glennie blog">
            <a:extLst>
              <a:ext uri="{FF2B5EF4-FFF2-40B4-BE49-F238E27FC236}">
                <a16:creationId xmlns:a16="http://schemas.microsoft.com/office/drawing/2014/main" id="{1EA9FC59-EE54-DE81-5F29-B422C41899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068C2F59-1F38-4581-E277-3CACE7947CF6}"/>
              </a:ext>
            </a:extLst>
          </p:cNvPr>
          <p:cNvSpPr txBox="1"/>
          <p:nvPr/>
        </p:nvSpPr>
        <p:spPr>
          <a:xfrm>
            <a:off x="585926" y="298674"/>
            <a:ext cx="11020148" cy="1323439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MIT VEHETNÉK EBBŐL?</a:t>
            </a:r>
          </a:p>
        </p:txBody>
      </p:sp>
      <p:pic>
        <p:nvPicPr>
          <p:cNvPr id="3" name="Kép 2" descr="Quartz White Bugatti Chiron Pur Sport With Grey Carbon Accents Touches ...">
            <a:extLst>
              <a:ext uri="{FF2B5EF4-FFF2-40B4-BE49-F238E27FC236}">
                <a16:creationId xmlns:a16="http://schemas.microsoft.com/office/drawing/2014/main" id="{89071713-2FE4-281A-6213-D1B58344DC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926" y="1920787"/>
            <a:ext cx="3219840" cy="174408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A7697722-39EF-2140-3276-0A9CD05DD2CD}"/>
              </a:ext>
            </a:extLst>
          </p:cNvPr>
          <p:cNvSpPr txBox="1"/>
          <p:nvPr/>
        </p:nvSpPr>
        <p:spPr>
          <a:xfrm>
            <a:off x="585926" y="3792131"/>
            <a:ext cx="3219840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300-400 db Bugatti </a:t>
            </a:r>
            <a:r>
              <a:rPr lang="hu-HU" sz="3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Chiront</a:t>
            </a:r>
            <a:endParaRPr lang="hu-HU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Condensed" panose="020B0502040204020203" pitchFamily="34" charset="0"/>
            </a:endParaRPr>
          </a:p>
        </p:txBody>
      </p:sp>
      <p:pic>
        <p:nvPicPr>
          <p:cNvPr id="6" name="Kép 5" descr="Sajtos-tejfölös lángos - Nők Lapja">
            <a:extLst>
              <a:ext uri="{FF2B5EF4-FFF2-40B4-BE49-F238E27FC236}">
                <a16:creationId xmlns:a16="http://schemas.microsoft.com/office/drawing/2014/main" id="{041B8F91-FC8F-AF52-9A2C-17597EA907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4247" y="1920787"/>
            <a:ext cx="2326086" cy="174408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2376F253-4C93-1B30-AEF0-185556D85348}"/>
              </a:ext>
            </a:extLst>
          </p:cNvPr>
          <p:cNvSpPr txBox="1"/>
          <p:nvPr/>
        </p:nvSpPr>
        <p:spPr>
          <a:xfrm>
            <a:off x="4447370" y="3792130"/>
            <a:ext cx="3219840" cy="175432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370.000.000 db sajtos-tejfölös lángost</a:t>
            </a:r>
          </a:p>
        </p:txBody>
      </p:sp>
      <p:pic>
        <p:nvPicPr>
          <p:cNvPr id="10" name="Kép 9" descr="RTX 5090 Founders Edition is the only SKU that meets Nvidia SFF-Ready ...">
            <a:extLst>
              <a:ext uri="{FF2B5EF4-FFF2-40B4-BE49-F238E27FC236}">
                <a16:creationId xmlns:a16="http://schemas.microsoft.com/office/drawing/2014/main" id="{F84618A3-EFF0-289E-5100-E9E92C5F2E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8814" y="1920787"/>
            <a:ext cx="3100586" cy="174408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Szövegdoboz 11">
            <a:extLst>
              <a:ext uri="{FF2B5EF4-FFF2-40B4-BE49-F238E27FC236}">
                <a16:creationId xmlns:a16="http://schemas.microsoft.com/office/drawing/2014/main" id="{D0B3D6EB-8D64-5803-9111-75DBF2BA3DDF}"/>
              </a:ext>
            </a:extLst>
          </p:cNvPr>
          <p:cNvSpPr txBox="1"/>
          <p:nvPr/>
        </p:nvSpPr>
        <p:spPr>
          <a:xfrm>
            <a:off x="8249187" y="3792130"/>
            <a:ext cx="3219840" cy="230832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550.000 db RTX 5090 </a:t>
            </a:r>
            <a:r>
              <a:rPr lang="hu-HU" sz="3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Founders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 Edition videókártyát</a:t>
            </a:r>
          </a:p>
        </p:txBody>
      </p:sp>
    </p:spTree>
    <p:extLst>
      <p:ext uri="{BB962C8B-B14F-4D97-AF65-F5344CB8AC3E}">
        <p14:creationId xmlns:p14="http://schemas.microsoft.com/office/powerpoint/2010/main" val="2247985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CF66DFEB-103F-4575-B71E-A6D5CD6DBD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492" t="10056" r="4478" b="604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Kép 3" descr="[300+] Historical Backgrounds | Wallpapers.com">
            <a:extLst>
              <a:ext uri="{FF2B5EF4-FFF2-40B4-BE49-F238E27FC236}">
                <a16:creationId xmlns:a16="http://schemas.microsoft.com/office/drawing/2014/main" id="{41AEDAEB-AD3E-FCB7-FD1E-7F6037EB2F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311051"/>
            <a:ext cx="12192000" cy="7620000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86AD5086-B122-4672-9060-29D0D83BB2CC}"/>
              </a:ext>
            </a:extLst>
          </p:cNvPr>
          <p:cNvSpPr txBox="1"/>
          <p:nvPr/>
        </p:nvSpPr>
        <p:spPr>
          <a:xfrm>
            <a:off x="585926" y="298674"/>
            <a:ext cx="11020148" cy="1323439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A BLACK JACK ELŐZMÉNYE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7B65A434-2D9C-47EF-854E-B8F441C01E56}"/>
              </a:ext>
            </a:extLst>
          </p:cNvPr>
          <p:cNvSpPr txBox="1"/>
          <p:nvPr/>
        </p:nvSpPr>
        <p:spPr>
          <a:xfrm>
            <a:off x="585926" y="2170352"/>
            <a:ext cx="7341833" cy="34163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A játék közvetlen elődje a spanyol </a:t>
            </a:r>
            <a:r>
              <a:rPr lang="hu-HU" sz="36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veintiuno</a:t>
            </a:r>
            <a:r>
              <a:rPr lang="hu-HU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 (21)</a:t>
            </a:r>
            <a:r>
              <a:rPr lang="hu-H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 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volt. Első írásos említése </a:t>
            </a:r>
            <a:r>
              <a:rPr lang="hu-HU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Miguel de Cervantes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 spanyol író 1601–1602 körül írt, </a:t>
            </a:r>
            <a:r>
              <a:rPr lang="hu-HU" sz="36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Rinconete</a:t>
            </a:r>
            <a:r>
              <a:rPr lang="hu-HU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 y </a:t>
            </a:r>
            <a:r>
              <a:rPr lang="hu-HU" sz="3600" b="1" u="sng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Cortadillo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 című novellájában található, amelyben </a:t>
            </a:r>
            <a:r>
              <a:rPr lang="hu-HU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kártyacsalók játsszák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 </a:t>
            </a:r>
            <a:r>
              <a:rPr lang="hu-HU" sz="3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Seville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-ben.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76C94F17-28F3-42DA-B663-C9984B8692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6304" y="1790789"/>
            <a:ext cx="3209770" cy="397031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034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56DA1D84-7F4E-4FAE-87C4-C3BC8B6D27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492" t="10056" r="4478" b="604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86AD5086-B122-4672-9060-29D0D83BB2CC}"/>
              </a:ext>
            </a:extLst>
          </p:cNvPr>
          <p:cNvSpPr txBox="1"/>
          <p:nvPr/>
        </p:nvSpPr>
        <p:spPr>
          <a:xfrm>
            <a:off x="585926" y="298674"/>
            <a:ext cx="11020148" cy="1323439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CÉLJA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3E197C71-E309-459D-A2D1-708F8812FF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230" y="1667833"/>
            <a:ext cx="7749540" cy="4657474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128BE2DC-3793-4F9C-A3B2-9D5DCBABAA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03321" y="4382206"/>
            <a:ext cx="3886202" cy="388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58888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56DA1D84-7F4E-4FAE-87C4-C3BC8B6D27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492" t="10056" r="4478" b="604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86AD5086-B122-4672-9060-29D0D83BB2CC}"/>
              </a:ext>
            </a:extLst>
          </p:cNvPr>
          <p:cNvSpPr txBox="1"/>
          <p:nvPr/>
        </p:nvSpPr>
        <p:spPr>
          <a:xfrm>
            <a:off x="585926" y="298674"/>
            <a:ext cx="11020148" cy="1323439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CÉLJA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3E197C71-E309-459D-A2D1-708F8812FF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230" y="1667833"/>
            <a:ext cx="7749540" cy="4657474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8B96D5FF-92BB-4B28-91F4-FB3F670743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3509" y="4382206"/>
            <a:ext cx="3886202" cy="388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354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56DA1D84-7F4E-4FAE-87C4-C3BC8B6D27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492" t="10056" r="4478" b="604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86AD5086-B122-4672-9060-29D0D83BB2CC}"/>
              </a:ext>
            </a:extLst>
          </p:cNvPr>
          <p:cNvSpPr txBox="1"/>
          <p:nvPr/>
        </p:nvSpPr>
        <p:spPr>
          <a:xfrm>
            <a:off x="585926" y="298674"/>
            <a:ext cx="11020148" cy="1323439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CÉLJA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7B65A434-2D9C-47EF-854E-B8F441C01E56}"/>
              </a:ext>
            </a:extLst>
          </p:cNvPr>
          <p:cNvSpPr txBox="1"/>
          <p:nvPr/>
        </p:nvSpPr>
        <p:spPr>
          <a:xfrm>
            <a:off x="585925" y="1790789"/>
            <a:ext cx="6012995" cy="397031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A játék célja, hogy a kártyák </a:t>
            </a:r>
            <a:r>
              <a:rPr lang="hu-HU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összértéke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 közelebb legyen a </a:t>
            </a:r>
            <a:r>
              <a:rPr lang="hu-HU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21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-hez, mint az osztóé, </a:t>
            </a:r>
            <a:r>
              <a:rPr lang="hu-HU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anélkül, hogy meghaladná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 azt. Ha a játékos lapjainak értéke </a:t>
            </a:r>
            <a:r>
              <a:rPr lang="hu-HU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meghaladja a 21-et, besokall 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(</a:t>
            </a:r>
            <a:r>
              <a:rPr lang="hu-HU" sz="3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bust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), és azonnal veszít.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4EE49D6-91C6-454A-A8A3-0B627527287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0" r="25392"/>
          <a:stretch/>
        </p:blipFill>
        <p:spPr>
          <a:xfrm>
            <a:off x="7184845" y="1790789"/>
            <a:ext cx="4191000" cy="414154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9872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22B04-0FC5-477C-618C-CAFB73208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B0254C3F-E8B5-2FDE-01F6-665A5C920E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492" t="10056" r="4478" b="604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Kép 2" descr="Gila River Casinos Table Games • Gila River Resorts &amp; Casinos">
            <a:extLst>
              <a:ext uri="{FF2B5EF4-FFF2-40B4-BE49-F238E27FC236}">
                <a16:creationId xmlns:a16="http://schemas.microsoft.com/office/drawing/2014/main" id="{C892C71F-7F0D-5B44-7908-7B415AEF79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7823200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195CBF14-5DCA-983B-B780-2C02315D5BA8}"/>
              </a:ext>
            </a:extLst>
          </p:cNvPr>
          <p:cNvSpPr txBox="1"/>
          <p:nvPr/>
        </p:nvSpPr>
        <p:spPr>
          <a:xfrm>
            <a:off x="585926" y="298674"/>
            <a:ext cx="11020148" cy="1323439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A KÁRTYÁK ÉRTÉKE</a:t>
            </a:r>
          </a:p>
        </p:txBody>
      </p:sp>
      <p:pic>
        <p:nvPicPr>
          <p:cNvPr id="7" name="Kép 6" descr="Retro pin up francia kártya 2 pakli - Játék, szabadidő | Galéria ...">
            <a:extLst>
              <a:ext uri="{FF2B5EF4-FFF2-40B4-BE49-F238E27FC236}">
                <a16:creationId xmlns:a16="http://schemas.microsoft.com/office/drawing/2014/main" id="{783B081A-BA3A-6F35-4980-829CBEC1E63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036" t="4839" r="6626" b="7611"/>
          <a:stretch>
            <a:fillRect/>
          </a:stretch>
        </p:blipFill>
        <p:spPr>
          <a:xfrm>
            <a:off x="785004" y="1920787"/>
            <a:ext cx="3036498" cy="236413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A6070F0F-B557-A2FB-22D4-7C0479FFDFEF}"/>
              </a:ext>
            </a:extLst>
          </p:cNvPr>
          <p:cNvSpPr txBox="1"/>
          <p:nvPr/>
        </p:nvSpPr>
        <p:spPr>
          <a:xfrm>
            <a:off x="585926" y="4439098"/>
            <a:ext cx="4210362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A </a:t>
            </a:r>
            <a:r>
              <a:rPr lang="hu-HU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számos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 lapok </a:t>
            </a:r>
            <a:r>
              <a:rPr lang="hu-HU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számértéküket érik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.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0B841F97-CA17-78AA-181F-757BBA121FB8}"/>
              </a:ext>
            </a:extLst>
          </p:cNvPr>
          <p:cNvSpPr txBox="1"/>
          <p:nvPr/>
        </p:nvSpPr>
        <p:spPr>
          <a:xfrm>
            <a:off x="5055080" y="4439098"/>
            <a:ext cx="2910648" cy="175432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A </a:t>
            </a:r>
            <a:r>
              <a:rPr lang="hu-HU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figurás lapok 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egységesen </a:t>
            </a:r>
            <a:r>
              <a:rPr lang="hu-HU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10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-et érnek</a:t>
            </a:r>
          </a:p>
        </p:txBody>
      </p:sp>
      <p:pic>
        <p:nvPicPr>
          <p:cNvPr id="12" name="Kép 11" descr="Kártyavárak mélyén a Királyok..: 36 lapos francia kártya - Piatnik ...">
            <a:extLst>
              <a:ext uri="{FF2B5EF4-FFF2-40B4-BE49-F238E27FC236}">
                <a16:creationId xmlns:a16="http://schemas.microsoft.com/office/drawing/2014/main" id="{93DE4D4F-45A8-2A86-818A-505DDAD5AD4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5135" r="602"/>
          <a:stretch>
            <a:fillRect/>
          </a:stretch>
        </p:blipFill>
        <p:spPr>
          <a:xfrm>
            <a:off x="4606506" y="2404868"/>
            <a:ext cx="3574212" cy="188004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Kép 12" descr="Kártyavárak mélyén a Királyok..: 36 lapos francia kártya - Piatnik ...">
            <a:extLst>
              <a:ext uri="{FF2B5EF4-FFF2-40B4-BE49-F238E27FC236}">
                <a16:creationId xmlns:a16="http://schemas.microsoft.com/office/drawing/2014/main" id="{6EFB1C92-9999-D672-1B9A-6AC9BEC5AB8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30" t="2443" r="74864" b="2336"/>
          <a:stretch>
            <a:fillRect/>
          </a:stretch>
        </p:blipFill>
        <p:spPr>
          <a:xfrm>
            <a:off x="9445925" y="2383614"/>
            <a:ext cx="1221972" cy="190130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Szövegdoboz 14">
            <a:extLst>
              <a:ext uri="{FF2B5EF4-FFF2-40B4-BE49-F238E27FC236}">
                <a16:creationId xmlns:a16="http://schemas.microsoft.com/office/drawing/2014/main" id="{38604BC9-135B-EDC7-8D7B-ECFCBAC3BDB2}"/>
              </a:ext>
            </a:extLst>
          </p:cNvPr>
          <p:cNvSpPr txBox="1"/>
          <p:nvPr/>
        </p:nvSpPr>
        <p:spPr>
          <a:xfrm>
            <a:off x="8695426" y="4439098"/>
            <a:ext cx="2910648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Az </a:t>
            </a:r>
            <a:r>
              <a:rPr lang="hu-HU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Ász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 pedig </a:t>
            </a:r>
            <a:r>
              <a:rPr lang="hu-HU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1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 vagy </a:t>
            </a:r>
            <a:r>
              <a:rPr lang="hu-HU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11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-et ér.</a:t>
            </a:r>
          </a:p>
        </p:txBody>
      </p:sp>
    </p:spTree>
    <p:extLst>
      <p:ext uri="{BB962C8B-B14F-4D97-AF65-F5344CB8AC3E}">
        <p14:creationId xmlns:p14="http://schemas.microsoft.com/office/powerpoint/2010/main" val="3441725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432F2-DCAE-B24E-175E-9C254F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E7F59454-C902-D061-FE03-56B6EB7A89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492" t="10056" r="4478" b="604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Kép 7" descr="Download Intense Blackjack Gameat Casino Wallpaper | Wallpapers.com">
            <a:extLst>
              <a:ext uri="{FF2B5EF4-FFF2-40B4-BE49-F238E27FC236}">
                <a16:creationId xmlns:a16="http://schemas.microsoft.com/office/drawing/2014/main" id="{D7C34573-1A1B-7B90-EDF0-8DD7E56471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  <a14:imgEffect>
                      <a14:sharpenSoften amount="-5000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-1049313"/>
            <a:ext cx="12191999" cy="8271727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BE2303E4-77D7-AEE2-C3CC-21900AF8C9C8}"/>
              </a:ext>
            </a:extLst>
          </p:cNvPr>
          <p:cNvSpPr txBox="1"/>
          <p:nvPr/>
        </p:nvSpPr>
        <p:spPr>
          <a:xfrm>
            <a:off x="585926" y="298674"/>
            <a:ext cx="11020148" cy="1323439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JÁTÉKMENET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83160954-6E16-2166-ADC8-346A3651B1FD}"/>
              </a:ext>
            </a:extLst>
          </p:cNvPr>
          <p:cNvSpPr txBox="1"/>
          <p:nvPr/>
        </p:nvSpPr>
        <p:spPr>
          <a:xfrm>
            <a:off x="585926" y="2159371"/>
            <a:ext cx="6012995" cy="34163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Először van a </a:t>
            </a:r>
            <a:r>
              <a:rPr lang="hu-HU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tétrakás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, minden kör elején. Az osztó óramutató járásával megegyező irányban </a:t>
            </a:r>
            <a:r>
              <a:rPr lang="hu-HU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2-2 kártyát oszt ki</a:t>
            </a:r>
            <a:r>
              <a:rPr lang="hu-H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 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általában </a:t>
            </a:r>
            <a:r>
              <a:rPr lang="hu-HU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képpel felfelé</a:t>
            </a:r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, és magának is, de képpel lefelé.</a:t>
            </a:r>
          </a:p>
        </p:txBody>
      </p:sp>
      <p:pic>
        <p:nvPicPr>
          <p:cNvPr id="11" name="Kép 10" descr="Complete Guide to Counting Cards in Blackjack | Natural8">
            <a:extLst>
              <a:ext uri="{FF2B5EF4-FFF2-40B4-BE49-F238E27FC236}">
                <a16:creationId xmlns:a16="http://schemas.microsoft.com/office/drawing/2014/main" id="{F7BA96E3-730C-D18C-D61D-0C2029EB2D1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569" r="18657"/>
          <a:stretch>
            <a:fillRect/>
          </a:stretch>
        </p:blipFill>
        <p:spPr>
          <a:xfrm>
            <a:off x="7653062" y="2375232"/>
            <a:ext cx="3484796" cy="298459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9737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21277-4461-8874-84B4-832FC9A90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57CD3F0B-500B-E6B8-A041-02B377B9AC4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492" t="10056" r="4478" b="604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Kép 2" descr="How To Build Blackjack Table - Casino Blackjack Slot">
            <a:extLst>
              <a:ext uri="{FF2B5EF4-FFF2-40B4-BE49-F238E27FC236}">
                <a16:creationId xmlns:a16="http://schemas.microsoft.com/office/drawing/2014/main" id="{C492065F-4DB0-F6D1-694F-EC3FB2BB28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8114454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F94E983F-C2E8-CADC-6986-6514C92480DF}"/>
              </a:ext>
            </a:extLst>
          </p:cNvPr>
          <p:cNvSpPr txBox="1"/>
          <p:nvPr/>
        </p:nvSpPr>
        <p:spPr>
          <a:xfrm>
            <a:off x="585926" y="298674"/>
            <a:ext cx="11020148" cy="1323439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DÖNTÉSI LEHETŐSÉGEK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2D07B530-7699-F691-79B9-B2E8462EEFCD}"/>
              </a:ext>
            </a:extLst>
          </p:cNvPr>
          <p:cNvSpPr txBox="1"/>
          <p:nvPr/>
        </p:nvSpPr>
        <p:spPr>
          <a:xfrm>
            <a:off x="585926" y="2828835"/>
            <a:ext cx="4210362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Újabb kártya kérése.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176BF6EF-7BEC-F952-9584-6AD02D7FDEEA}"/>
              </a:ext>
            </a:extLst>
          </p:cNvPr>
          <p:cNvSpPr txBox="1"/>
          <p:nvPr/>
        </p:nvSpPr>
        <p:spPr>
          <a:xfrm>
            <a:off x="181154" y="1928535"/>
            <a:ext cx="1875143" cy="110799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Hit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13571254-21F9-4918-2B95-C3E542859322}"/>
              </a:ext>
            </a:extLst>
          </p:cNvPr>
          <p:cNvSpPr txBox="1"/>
          <p:nvPr/>
        </p:nvSpPr>
        <p:spPr>
          <a:xfrm>
            <a:off x="585926" y="4375466"/>
            <a:ext cx="4210362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Kártyák megtartása.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936B762E-FD6A-36D2-C6D6-2D40B8A6BD1A}"/>
              </a:ext>
            </a:extLst>
          </p:cNvPr>
          <p:cNvSpPr txBox="1"/>
          <p:nvPr/>
        </p:nvSpPr>
        <p:spPr>
          <a:xfrm>
            <a:off x="585926" y="3475166"/>
            <a:ext cx="2071009" cy="110799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Stand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6214F5B8-7B01-4AEE-13D2-A781B304A480}"/>
              </a:ext>
            </a:extLst>
          </p:cNvPr>
          <p:cNvSpPr txBox="1"/>
          <p:nvPr/>
        </p:nvSpPr>
        <p:spPr>
          <a:xfrm>
            <a:off x="6979539" y="2821087"/>
            <a:ext cx="4210362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2x-es tét és +1 kártya</a:t>
            </a:r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789EBF52-111A-216F-4A7B-578D0150DEBB}"/>
              </a:ext>
            </a:extLst>
          </p:cNvPr>
          <p:cNvSpPr txBox="1"/>
          <p:nvPr/>
        </p:nvSpPr>
        <p:spPr>
          <a:xfrm>
            <a:off x="6788989" y="1920787"/>
            <a:ext cx="2751828" cy="110799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Double</a:t>
            </a:r>
            <a:endParaRPr lang="hu-HU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SemiConden" panose="020B0502040204020203" pitchFamily="34" charset="0"/>
            </a:endParaRP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5E49B32A-639D-FA52-6604-92CE8A3876B8}"/>
              </a:ext>
            </a:extLst>
          </p:cNvPr>
          <p:cNvSpPr txBox="1"/>
          <p:nvPr/>
        </p:nvSpPr>
        <p:spPr>
          <a:xfrm>
            <a:off x="6979538" y="4581807"/>
            <a:ext cx="4536725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Condensed" panose="020B0502040204020203" pitchFamily="34" charset="0"/>
              </a:rPr>
              <a:t>A párok szétválasztása 2 kézzé.</a:t>
            </a:r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7541E70E-E388-59A9-1D91-64E03E057C49}"/>
              </a:ext>
            </a:extLst>
          </p:cNvPr>
          <p:cNvSpPr txBox="1"/>
          <p:nvPr/>
        </p:nvSpPr>
        <p:spPr>
          <a:xfrm>
            <a:off x="6832119" y="3589174"/>
            <a:ext cx="1875143" cy="110799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Split</a:t>
            </a:r>
          </a:p>
        </p:txBody>
      </p:sp>
    </p:spTree>
    <p:extLst>
      <p:ext uri="{BB962C8B-B14F-4D97-AF65-F5344CB8AC3E}">
        <p14:creationId xmlns:p14="http://schemas.microsoft.com/office/powerpoint/2010/main" val="996927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87A83-112B-85B1-EA77-B180628DA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 descr="12 Best Bora Bora All-Inclusive Resorts To Visit This Year - The Planet D">
            <a:extLst>
              <a:ext uri="{FF2B5EF4-FFF2-40B4-BE49-F238E27FC236}">
                <a16:creationId xmlns:a16="http://schemas.microsoft.com/office/drawing/2014/main" id="{C1AFA9F3-1D08-C42E-B1B7-103B3FC3F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B509E96E-72A7-5DCA-C7AE-B95CAEC77E55}"/>
              </a:ext>
            </a:extLst>
          </p:cNvPr>
          <p:cNvSpPr txBox="1"/>
          <p:nvPr/>
        </p:nvSpPr>
        <p:spPr>
          <a:xfrm>
            <a:off x="585926" y="1170223"/>
            <a:ext cx="11020148" cy="156966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ÉS HA MINDEN JÓL MEGY AKKOR MEGYÜNK BORA BORÁRA A BLACK JACKES PÉNZBŐL.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8DFCB682-B7B2-28FD-E536-10A8FF7CDB53}"/>
              </a:ext>
            </a:extLst>
          </p:cNvPr>
          <p:cNvSpPr txBox="1"/>
          <p:nvPr/>
        </p:nvSpPr>
        <p:spPr>
          <a:xfrm>
            <a:off x="585926" y="3746646"/>
            <a:ext cx="11020148" cy="156966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KÖSZÖNÖM SZÉPEN A FIGYELMET ÉS MOST KABDEBON JÖN A KÓDDAL.</a:t>
            </a:r>
          </a:p>
        </p:txBody>
      </p:sp>
    </p:spTree>
    <p:extLst>
      <p:ext uri="{BB962C8B-B14F-4D97-AF65-F5344CB8AC3E}">
        <p14:creationId xmlns:p14="http://schemas.microsoft.com/office/powerpoint/2010/main" val="13783916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278</Words>
  <Application>Microsoft Office PowerPoint</Application>
  <PresentationFormat>Szélesvásznú</PresentationFormat>
  <Paragraphs>38</Paragraphs>
  <Slides>14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20" baseType="lpstr">
      <vt:lpstr>Arial</vt:lpstr>
      <vt:lpstr>Bahnschrift SemiBold SemiConden</vt:lpstr>
      <vt:lpstr>Bahnschrift SemiCondensed</vt:lpstr>
      <vt:lpstr>Calibri</vt:lpstr>
      <vt:lpstr>Calibri Light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Csanálosi Botond</dc:creator>
  <cp:lastModifiedBy>Sándor Veres</cp:lastModifiedBy>
  <cp:revision>10</cp:revision>
  <dcterms:created xsi:type="dcterms:W3CDTF">2026-10-14T05:59:54Z</dcterms:created>
  <dcterms:modified xsi:type="dcterms:W3CDTF">2026-10-20T22:55:30Z</dcterms:modified>
</cp:coreProperties>
</file>