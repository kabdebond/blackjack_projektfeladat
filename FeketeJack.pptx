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4" r:id="rId5"/>
    <p:sldId id="263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8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F9703-E328-4FD4-8D69-507A9635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06B5B26-6D8E-45EA-8339-D637C9CA2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477714B-9619-4026-B7A9-334884334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8252B86-DC2E-428F-82FE-127DC7522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D66D796-8FCC-47DC-A929-3B79BD248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496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F35A10-4F0E-4F4E-A1BC-FB6A36FD9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66E92B-6F39-4C14-BBA7-2D7F9B62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BACECA-9C53-4A8E-ACD8-D17FEDBE0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C41C45B-C7D9-41FB-A46D-3B3F6EE19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4E696D4-AAE6-4603-B016-D89D9C2F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2408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23A3CF-3412-4A0A-9BDB-FED01D9B3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62D553-0046-4311-8C02-41A86D6F1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42968BD-E019-4F91-AFED-C47985C1D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34DFF36-445B-4768-B464-0A2761E6A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902BD9-A11F-460E-9ADA-698975B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090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C9730E-1AB4-4877-BD0C-B15D429AE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7B06B5-425B-4578-9D9E-726B76A6E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FC2B05-F312-4038-931F-3D3B0ECCB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538FB4-479E-4D3A-AA78-B6DF4962C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6691BFA-30A4-4E81-8134-0E77C054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20AAB98-254A-4061-BCE5-70FC79DE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854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82A600-82F4-4CB2-B163-16BC71372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00D8F24-7C8B-40DC-9F54-74E063BB13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6049647-3A36-4AF3-BE8A-F94EFB901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EBFCCA2-9907-436F-8EBA-9A59C9510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B058BE1-CB54-42EB-8CE1-3D479DA27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399661B6-95C4-4559-9EBD-2366CDED2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2CE72EF-982C-448F-8740-E7FD586C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E4857D90-F395-47AD-964E-4848B4C3E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9646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279BFB-76DB-40B5-A672-300AEBFA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1AC08283-F847-4B68-A72A-86C93FC4F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99726AC-94EA-4C36-B2CC-BCAAECBDB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55F0FCF-1644-4010-8F2D-E06E621A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6829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F248A1E-BAAA-4645-A9CA-3EC2F93F4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EA5895D-623F-4B9F-BB96-752B05F17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C8C8380-7146-4402-87E5-3B5C21036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7375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04F5C7-A52E-4082-B0EA-CA43C2D0F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572364-58E5-4833-9274-8F351B49A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9DCE6B8-F71A-4C63-ABA0-CC3F09C470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94448C6-18EF-4E84-A487-CA70BDB81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9348195-EFDE-40D6-B518-0F81D382A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2DC08D0-BA45-49E8-B514-0BDB7978D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223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E4F308-4F5D-4058-AD8D-7A2FC1C45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A8EB653-5606-4B60-A739-A94D2D1762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42F2382-E1E7-4112-AABD-35D97A983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06FFAC-DF83-41DC-8D2B-BAAFA9F3A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714405E-5AB6-4D70-B6B7-66600E438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5FE1F4B-7962-4D34-BE10-9A11E086F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291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122FBC-07C8-4D04-BCA6-833F49947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B63E6E4-0F58-46D7-9317-C8D4556881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ED051C6-0D68-4509-8948-603AB7F04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00252AB-9EE0-4020-AE86-01C46E852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3D3C6F0-27B5-4B3B-B42F-73D53798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286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76573758-E186-4E5C-932C-18EB061631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137986A-7FA1-4109-8CF6-D032CBA075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282E4DE-39E6-422F-B207-37D86727E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61FDF52-3935-44C5-80BE-E5D2F56EB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4F9CDB-1707-4BF5-A6B4-D652ADB5E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8346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01085492-938C-4EC3-A29E-2338C5E62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EC9E5F8-CA15-4FC5-BE0F-2FDA1BFE4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35045CD-2481-4FB7-B404-80B510F21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97A40-582E-4136-8189-CB927F773D2A}" type="datetimeFigureOut">
              <a:rPr lang="hu-HU" smtClean="0"/>
              <a:t>2026. 10. 14.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F8AD943-CB53-4032-9B8F-A12EA891EB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DE43728-F376-48F8-9290-984B5B16C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1632D2-1251-4055-8336-B6E5B86843F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949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0BB1CD25-8705-4EA6-8C1A-6956894FB3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056" r="4478" b="60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86AD5086-B122-4672-9060-29D0D83BB2CC}"/>
              </a:ext>
            </a:extLst>
          </p:cNvPr>
          <p:cNvSpPr txBox="1"/>
          <p:nvPr/>
        </p:nvSpPr>
        <p:spPr>
          <a:xfrm>
            <a:off x="1310936" y="2367171"/>
            <a:ext cx="95701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80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BLACKJACK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7B65A434-2D9C-47EF-854E-B8F441C01E56}"/>
              </a:ext>
            </a:extLst>
          </p:cNvPr>
          <p:cNvSpPr txBox="1"/>
          <p:nvPr/>
        </p:nvSpPr>
        <p:spPr>
          <a:xfrm>
            <a:off x="1562470" y="3429000"/>
            <a:ext cx="9170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(avagy másnéven a </a:t>
            </a:r>
            <a:r>
              <a:rPr lang="hu-HU" sz="2800" dirty="0" err="1">
                <a:solidFill>
                  <a:schemeClr val="bg1"/>
                </a:solidFill>
                <a:latin typeface="Bahnschrift SemiCondensed" panose="020B0502040204020203" pitchFamily="34" charset="0"/>
              </a:rPr>
              <a:t>huszenegyezés</a:t>
            </a:r>
            <a:r>
              <a:rPr lang="hu-HU" sz="28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042548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CF66DFEB-103F-4575-B71E-A6D5CD6DBD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056" r="4478" b="60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86AD5086-B122-4672-9060-29D0D83BB2CC}"/>
              </a:ext>
            </a:extLst>
          </p:cNvPr>
          <p:cNvSpPr txBox="1"/>
          <p:nvPr/>
        </p:nvSpPr>
        <p:spPr>
          <a:xfrm>
            <a:off x="585926" y="298674"/>
            <a:ext cx="11020148" cy="1323439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TÖRTÉNETE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7B65A434-2D9C-47EF-854E-B8F441C01E56}"/>
              </a:ext>
            </a:extLst>
          </p:cNvPr>
          <p:cNvSpPr txBox="1"/>
          <p:nvPr/>
        </p:nvSpPr>
        <p:spPr>
          <a:xfrm>
            <a:off x="585925" y="1790789"/>
            <a:ext cx="7341833" cy="34163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A játék közvetlen elődje a spanyol </a:t>
            </a:r>
            <a:r>
              <a:rPr lang="hu-HU" sz="3600" b="1" i="1" u="sng" dirty="0" err="1">
                <a:solidFill>
                  <a:schemeClr val="bg1"/>
                </a:solidFill>
                <a:latin typeface="Bahnschrift SemiCondensed" panose="020B0502040204020203" pitchFamily="34" charset="0"/>
              </a:rPr>
              <a:t>veintiuno</a:t>
            </a:r>
            <a:r>
              <a:rPr lang="hu-HU" sz="3600" b="1" i="1" u="sng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 (21)</a:t>
            </a:r>
            <a:r>
              <a:rPr lang="hu-HU" sz="3600" b="1" i="1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 </a:t>
            </a:r>
            <a:r>
              <a:rPr lang="hu-HU" sz="36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volt. Első írásos említése </a:t>
            </a:r>
            <a:r>
              <a:rPr lang="hu-HU" sz="3600" b="1" i="1" u="sng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Miguel de Cervantes</a:t>
            </a:r>
            <a:r>
              <a:rPr lang="hu-HU" sz="36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 spanyol író 1601–1602 körül írt, </a:t>
            </a:r>
            <a:r>
              <a:rPr lang="hu-HU" sz="3600" b="1" i="1" u="sng" dirty="0" err="1">
                <a:solidFill>
                  <a:schemeClr val="bg1"/>
                </a:solidFill>
                <a:latin typeface="Bahnschrift SemiCondensed" panose="020B0502040204020203" pitchFamily="34" charset="0"/>
              </a:rPr>
              <a:t>Rinconete</a:t>
            </a:r>
            <a:r>
              <a:rPr lang="hu-HU" sz="3600" b="1" i="1" u="sng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 y </a:t>
            </a:r>
            <a:r>
              <a:rPr lang="hu-HU" sz="3600" b="1" i="1" u="sng" dirty="0" err="1">
                <a:solidFill>
                  <a:schemeClr val="bg1"/>
                </a:solidFill>
                <a:latin typeface="Bahnschrift SemiCondensed" panose="020B0502040204020203" pitchFamily="34" charset="0"/>
              </a:rPr>
              <a:t>Cortadillo</a:t>
            </a:r>
            <a:r>
              <a:rPr lang="hu-HU" sz="36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 című novellájában található, amelyben kártyacsalók játsszák </a:t>
            </a:r>
            <a:r>
              <a:rPr lang="hu-HU" sz="3600" dirty="0" err="1">
                <a:solidFill>
                  <a:schemeClr val="bg1"/>
                </a:solidFill>
                <a:latin typeface="Bahnschrift SemiCondensed" panose="020B0502040204020203" pitchFamily="34" charset="0"/>
              </a:rPr>
              <a:t>Seville</a:t>
            </a:r>
            <a:r>
              <a:rPr lang="hu-HU" sz="3600" dirty="0">
                <a:solidFill>
                  <a:schemeClr val="bg1"/>
                </a:solidFill>
                <a:latin typeface="Bahnschrift SemiCondensed" panose="020B0502040204020203" pitchFamily="34" charset="0"/>
              </a:rPr>
              <a:t>-ben.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6C94F17-28F3-42DA-B663-C9984B869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304" y="1790789"/>
            <a:ext cx="3209770" cy="397031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0342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56DA1D84-7F4E-4FAE-87C4-C3BC8B6D27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056" r="4478" b="60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86AD5086-B122-4672-9060-29D0D83BB2CC}"/>
              </a:ext>
            </a:extLst>
          </p:cNvPr>
          <p:cNvSpPr txBox="1"/>
          <p:nvPr/>
        </p:nvSpPr>
        <p:spPr>
          <a:xfrm>
            <a:off x="585926" y="298674"/>
            <a:ext cx="11020148" cy="1323439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CÉLJA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3E197C71-E309-459D-A2D1-708F8812F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230" y="1667833"/>
            <a:ext cx="7749540" cy="4657474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128BE2DC-3793-4F9C-A3B2-9D5DCBABAA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3321" y="4382206"/>
            <a:ext cx="3886202" cy="388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58888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56DA1D84-7F4E-4FAE-87C4-C3BC8B6D27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056" r="4478" b="60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86AD5086-B122-4672-9060-29D0D83BB2CC}"/>
              </a:ext>
            </a:extLst>
          </p:cNvPr>
          <p:cNvSpPr txBox="1"/>
          <p:nvPr/>
        </p:nvSpPr>
        <p:spPr>
          <a:xfrm>
            <a:off x="585926" y="298674"/>
            <a:ext cx="11020148" cy="1323439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CÉLJA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3E197C71-E309-459D-A2D1-708F8812F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230" y="1667833"/>
            <a:ext cx="7749540" cy="465747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B96D5FF-92BB-4B28-91F4-FB3F670743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119" y="4382206"/>
            <a:ext cx="3886202" cy="388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3543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56DA1D84-7F4E-4FAE-87C4-C3BC8B6D27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056" r="4478" b="60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86AD5086-B122-4672-9060-29D0D83BB2CC}"/>
              </a:ext>
            </a:extLst>
          </p:cNvPr>
          <p:cNvSpPr txBox="1"/>
          <p:nvPr/>
        </p:nvSpPr>
        <p:spPr>
          <a:xfrm>
            <a:off x="585926" y="298674"/>
            <a:ext cx="11020148" cy="1323439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CÉLJA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7B65A434-2D9C-47EF-854E-B8F441C01E56}"/>
              </a:ext>
            </a:extLst>
          </p:cNvPr>
          <p:cNvSpPr txBox="1"/>
          <p:nvPr/>
        </p:nvSpPr>
        <p:spPr>
          <a:xfrm>
            <a:off x="585925" y="1790789"/>
            <a:ext cx="6012995" cy="397031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 játék célja, hogy a kártyák összértéke közelebb legyen a 21-hez, mint az osztóé, anélkül, hogy meghaladná azt. Ha a játékos lapjainak értéke meghaladja a 21-et, besokall (</a:t>
            </a:r>
            <a:r>
              <a:rPr lang="hu-HU" sz="3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bust</a:t>
            </a:r>
            <a:r>
              <a:rPr lang="hu-HU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), és azonnal veszít.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4EE49D6-91C6-454A-A8A3-0B627527287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0" r="25392"/>
          <a:stretch/>
        </p:blipFill>
        <p:spPr>
          <a:xfrm>
            <a:off x="7184845" y="1790789"/>
            <a:ext cx="4191000" cy="41415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9872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</Words>
  <Application>Microsoft Office PowerPoint</Application>
  <PresentationFormat>Szélesvásznú</PresentationFormat>
  <Paragraphs>8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11" baseType="lpstr">
      <vt:lpstr>Arial</vt:lpstr>
      <vt:lpstr>Bahnschrift SemiBold SemiConden</vt:lpstr>
      <vt:lpstr>Bahnschrift SemiCondensed</vt:lpstr>
      <vt:lpstr>Calibri</vt:lpstr>
      <vt:lpstr>Calibri 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Csanálosi Botond</dc:creator>
  <cp:lastModifiedBy>Csanálosi Botond</cp:lastModifiedBy>
  <cp:revision>8</cp:revision>
  <dcterms:created xsi:type="dcterms:W3CDTF">2026-10-14T05:59:54Z</dcterms:created>
  <dcterms:modified xsi:type="dcterms:W3CDTF">2026-10-14T08:31:17Z</dcterms:modified>
</cp:coreProperties>
</file>